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43443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43443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43443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43443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874" y="262601"/>
            <a:ext cx="543941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43443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b8999fe5.wealth-management.pages.dev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ithub.com/aryhsg/wealth-management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ithub.com/aryhsg/wealth-management-backend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314998"/>
            <a:ext cx="4404995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150"/>
              <a:t>WealthWise</a:t>
            </a:r>
            <a:r>
              <a:rPr dirty="0" sz="2500" spc="-130"/>
              <a:t> - </a:t>
            </a:r>
            <a:r>
              <a:rPr dirty="0" sz="2500" spc="75">
                <a:latin typeface="MS PGothic"/>
                <a:cs typeface="MS PGothic"/>
              </a:rPr>
              <a:t>資</a:t>
            </a:r>
            <a:r>
              <a:rPr dirty="0" sz="2500" spc="75" b="1">
                <a:latin typeface="Microsoft JhengHei"/>
                <a:cs typeface="Microsoft JhengHei"/>
              </a:rPr>
              <a:t>產</a:t>
            </a:r>
            <a:r>
              <a:rPr dirty="0" sz="2500" spc="-10">
                <a:latin typeface="MS PGothic"/>
                <a:cs typeface="MS PGothic"/>
              </a:rPr>
              <a:t>管理儀表板</a:t>
            </a:r>
            <a:endParaRPr sz="2500">
              <a:latin typeface="MS PGothic"/>
              <a:cs typeface="MS P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14874" y="1005957"/>
            <a:ext cx="3394075" cy="70040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 marR="5080">
              <a:lnSpc>
                <a:spcPts val="1739"/>
              </a:lnSpc>
              <a:spcBef>
                <a:spcPts val="234"/>
              </a:spcBef>
            </a:pPr>
            <a:r>
              <a:rPr dirty="0" sz="1500" spc="10">
                <a:solidFill>
                  <a:srgbClr val="131313"/>
                </a:solidFill>
                <a:latin typeface="MS PGothic"/>
                <a:cs typeface="MS PGothic"/>
              </a:rPr>
              <a:t>課程名稱：</a:t>
            </a:r>
            <a:r>
              <a:rPr dirty="0" sz="1500" spc="55" b="1">
                <a:solidFill>
                  <a:srgbClr val="131313"/>
                </a:solidFill>
                <a:latin typeface="Arial"/>
                <a:cs typeface="Arial"/>
              </a:rPr>
              <a:t>AI </a:t>
            </a:r>
            <a:r>
              <a:rPr dirty="0" sz="1500">
                <a:solidFill>
                  <a:srgbClr val="131313"/>
                </a:solidFill>
                <a:latin typeface="MS PGothic"/>
                <a:cs typeface="MS PGothic"/>
              </a:rPr>
              <a:t>生成式工具 </a:t>
            </a:r>
            <a:r>
              <a:rPr dirty="0" sz="1500" spc="105" b="1">
                <a:solidFill>
                  <a:srgbClr val="131313"/>
                </a:solidFill>
                <a:latin typeface="Arial"/>
                <a:cs typeface="Arial"/>
              </a:rPr>
              <a:t>- </a:t>
            </a:r>
            <a:r>
              <a:rPr dirty="0" sz="1500" spc="-15">
                <a:solidFill>
                  <a:srgbClr val="131313"/>
                </a:solidFill>
                <a:latin typeface="MS PGothic"/>
                <a:cs typeface="MS PGothic"/>
              </a:rPr>
              <a:t>實戰工作坊</a:t>
            </a:r>
            <a:r>
              <a:rPr dirty="0" sz="1500" spc="20">
                <a:solidFill>
                  <a:srgbClr val="131313"/>
                </a:solidFill>
                <a:latin typeface="MS PGothic"/>
                <a:cs typeface="MS PGothic"/>
              </a:rPr>
              <a:t>專題類別</a:t>
            </a:r>
            <a:r>
              <a:rPr dirty="0" sz="1500" spc="-130" b="1">
                <a:solidFill>
                  <a:srgbClr val="131313"/>
                </a:solidFill>
                <a:latin typeface="Arial"/>
                <a:cs typeface="Arial"/>
              </a:rPr>
              <a:t>:</a:t>
            </a:r>
            <a:r>
              <a:rPr dirty="0" sz="1500" spc="20">
                <a:solidFill>
                  <a:srgbClr val="131313"/>
                </a:solidFill>
                <a:latin typeface="MS PGothic"/>
                <a:cs typeface="MS PGothic"/>
              </a:rPr>
              <a:t>個人資</a:t>
            </a:r>
            <a:r>
              <a:rPr dirty="0" sz="1500" spc="60" b="1">
                <a:solidFill>
                  <a:srgbClr val="131313"/>
                </a:solidFill>
                <a:latin typeface="Microsoft JhengHei"/>
                <a:cs typeface="Microsoft JhengHei"/>
              </a:rPr>
              <a:t>產</a:t>
            </a:r>
            <a:r>
              <a:rPr dirty="0" sz="1500" spc="-10">
                <a:solidFill>
                  <a:srgbClr val="131313"/>
                </a:solidFill>
                <a:latin typeface="MS PGothic"/>
                <a:cs typeface="MS PGothic"/>
              </a:rPr>
              <a:t>管理與財務優化工具</a:t>
            </a:r>
            <a:r>
              <a:rPr dirty="0" sz="1500" spc="15">
                <a:solidFill>
                  <a:srgbClr val="131313"/>
                </a:solidFill>
                <a:latin typeface="MS PGothic"/>
                <a:cs typeface="MS PGothic"/>
              </a:rPr>
              <a:t>日期：</a:t>
            </a:r>
            <a:r>
              <a:rPr dirty="0" sz="1500" spc="50" b="1">
                <a:solidFill>
                  <a:srgbClr val="131313"/>
                </a:solidFill>
                <a:latin typeface="Arial"/>
                <a:cs typeface="Arial"/>
              </a:rPr>
              <a:t>2026/0fi/27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0074" y="0"/>
            <a:ext cx="3823925" cy="51435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4874" y="4216335"/>
            <a:ext cx="4722495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770"/>
              </a:lnSpc>
              <a:spcBef>
                <a:spcPts val="125"/>
              </a:spcBef>
            </a:pPr>
            <a:r>
              <a:rPr dirty="0" sz="1500" spc="-50">
                <a:solidFill>
                  <a:srgbClr val="131313"/>
                </a:solidFill>
                <a:latin typeface="MS PGothic"/>
                <a:cs typeface="MS PGothic"/>
              </a:rPr>
              <a:t>網</a:t>
            </a:r>
            <a:endParaRPr sz="1500">
              <a:latin typeface="MS PGothic"/>
              <a:cs typeface="MS PGothic"/>
            </a:endParaRPr>
          </a:p>
          <a:p>
            <a:pPr marL="12700">
              <a:lnSpc>
                <a:spcPts val="1770"/>
              </a:lnSpc>
            </a:pPr>
            <a:r>
              <a:rPr dirty="0" sz="1500">
                <a:solidFill>
                  <a:srgbClr val="131313"/>
                </a:solidFill>
                <a:latin typeface="MS PGothic"/>
                <a:cs typeface="MS PGothic"/>
              </a:rPr>
              <a:t>址</a:t>
            </a:r>
            <a:r>
              <a:rPr dirty="0" sz="1500" b="1">
                <a:solidFill>
                  <a:srgbClr val="131313"/>
                </a:solidFill>
                <a:latin typeface="Arial"/>
                <a:cs typeface="Arial"/>
              </a:rPr>
              <a:t>:</a:t>
            </a:r>
            <a:r>
              <a:rPr dirty="0" u="heavy" sz="1500" b="1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"/>
                <a:cs typeface="Arial"/>
                <a:hlinkClick r:id="rId3"/>
              </a:rPr>
              <a:t>https://b8999fg5.wgalth-</a:t>
            </a:r>
            <a:r>
              <a:rPr dirty="0" u="heavy" sz="1500" spc="-10" b="1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"/>
                <a:cs typeface="Arial"/>
                <a:hlinkClick r:id="rId3"/>
              </a:rPr>
              <a:t>managgmgnt.paggs.dgv/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313575"/>
            <a:ext cx="450215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>
                <a:latin typeface="MS PGothic"/>
                <a:cs typeface="MS PGothic"/>
              </a:rPr>
              <a:t>專案動機</a:t>
            </a:r>
            <a:r>
              <a:rPr dirty="0"/>
              <a:t>:</a:t>
            </a:r>
            <a:r>
              <a:rPr dirty="0" spc="85">
                <a:latin typeface="MS PGothic"/>
                <a:cs typeface="MS PGothic"/>
              </a:rPr>
              <a:t>解決資</a:t>
            </a:r>
            <a:r>
              <a:rPr dirty="0" spc="85" b="1">
                <a:latin typeface="Microsoft JhengHei"/>
                <a:cs typeface="Microsoft JhengHei"/>
              </a:rPr>
              <a:t>產</a:t>
            </a:r>
            <a:r>
              <a:rPr dirty="0" spc="-15">
                <a:latin typeface="MS PGothic"/>
                <a:cs typeface="MS PGothic"/>
              </a:rPr>
              <a:t>管的散亂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30687" y="4119984"/>
            <a:ext cx="2400935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 spc="-30">
                <a:solidFill>
                  <a:srgbClr val="131313"/>
                </a:solidFill>
                <a:latin typeface="MS PGothic"/>
                <a:cs typeface="MS PGothic"/>
              </a:rPr>
              <a:t>缺乏跨帳 </a:t>
            </a:r>
            <a:r>
              <a:rPr dirty="0" sz="1400" b="1">
                <a:solidFill>
                  <a:srgbClr val="131313"/>
                </a:solidFill>
                <a:latin typeface="Microsoft JhengHei"/>
                <a:cs typeface="Microsoft JhengHei"/>
              </a:rPr>
              <a:t>戶</a:t>
            </a:r>
            <a:r>
              <a:rPr dirty="0" sz="1400" spc="65">
                <a:solidFill>
                  <a:srgbClr val="131313"/>
                </a:solidFill>
                <a:latin typeface="MS PGothic"/>
                <a:cs typeface="MS PGothic"/>
              </a:rPr>
              <a:t>與資</a:t>
            </a:r>
            <a:r>
              <a:rPr dirty="0" sz="1400" b="1">
                <a:solidFill>
                  <a:srgbClr val="131313"/>
                </a:solidFill>
                <a:latin typeface="Microsoft JhengHei"/>
                <a:cs typeface="Microsoft JhengHei"/>
              </a:rPr>
              <a:t>產</a:t>
            </a:r>
            <a:r>
              <a:rPr dirty="0" sz="1400" spc="-10">
                <a:solidFill>
                  <a:srgbClr val="131313"/>
                </a:solidFill>
                <a:latin typeface="MS PGothic"/>
                <a:cs typeface="MS PGothic"/>
              </a:rPr>
              <a:t>類別的統一</a:t>
            </a:r>
            <a:r>
              <a:rPr dirty="0" sz="1400" spc="-15">
                <a:solidFill>
                  <a:srgbClr val="131313"/>
                </a:solidFill>
                <a:latin typeface="MS PGothic"/>
                <a:cs typeface="MS PGothic"/>
              </a:rPr>
              <a:t>監控介面，難以一目了然。</a:t>
            </a:r>
            <a:endParaRPr sz="1400">
              <a:latin typeface="MS PGothic"/>
              <a:cs typeface="MS P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1946"/>
            <a:ext cx="9143999" cy="301822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391112" y="4119984"/>
            <a:ext cx="2375535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 spc="65">
                <a:solidFill>
                  <a:srgbClr val="131313"/>
                </a:solidFill>
                <a:latin typeface="MS PGothic"/>
                <a:cs typeface="MS PGothic"/>
              </a:rPr>
              <a:t>傳統</a:t>
            </a:r>
            <a:r>
              <a:rPr dirty="0" sz="1400" spc="-70" b="1">
                <a:solidFill>
                  <a:srgbClr val="131313"/>
                </a:solidFill>
                <a:latin typeface="Arial"/>
                <a:cs typeface="Arial"/>
              </a:rPr>
              <a:t>Excgl</a:t>
            </a:r>
            <a:r>
              <a:rPr dirty="0" sz="1400" spc="-15">
                <a:solidFill>
                  <a:srgbClr val="131313"/>
                </a:solidFill>
                <a:latin typeface="MS PGothic"/>
                <a:cs typeface="MS PGothic"/>
              </a:rPr>
              <a:t>手動維護公式繁瑣，</a:t>
            </a:r>
            <a:r>
              <a:rPr dirty="0" sz="1400" spc="-20">
                <a:solidFill>
                  <a:srgbClr val="131313"/>
                </a:solidFill>
                <a:latin typeface="MS PGothic"/>
                <a:cs typeface="MS PGothic"/>
              </a:rPr>
              <a:t>難以即時反應。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69813" y="4119984"/>
            <a:ext cx="209931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 spc="-5">
                <a:solidFill>
                  <a:srgbClr val="131313"/>
                </a:solidFill>
                <a:latin typeface="MS PGothic"/>
                <a:cs typeface="MS PGothic"/>
              </a:rPr>
              <a:t>擁有數據卻無解讀能力，難以評估抗通膨與流動性風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69813" y="4642716"/>
            <a:ext cx="3213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131313"/>
                </a:solidFill>
                <a:latin typeface="MS PGothic"/>
                <a:cs typeface="MS PGothic"/>
              </a:rPr>
              <a:t>險。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5" b="1">
                <a:solidFill>
                  <a:srgbClr val="131313"/>
                </a:solidFill>
                <a:latin typeface="Arial"/>
                <a:cs typeface="Arial"/>
              </a:rPr>
              <a:t>fi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262601"/>
            <a:ext cx="382524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>
                <a:latin typeface="MS PGothic"/>
                <a:cs typeface="MS PGothic"/>
              </a:rPr>
              <a:t>功能一：資</a:t>
            </a:r>
            <a:r>
              <a:rPr dirty="0" spc="85" b="1">
                <a:latin typeface="Microsoft JhengHei"/>
                <a:cs typeface="Microsoft JhengHei"/>
              </a:rPr>
              <a:t>產</a:t>
            </a:r>
            <a:r>
              <a:rPr dirty="0" spc="-10">
                <a:latin typeface="MS PGothic"/>
                <a:cs typeface="MS PGothic"/>
              </a:rPr>
              <a:t>監控儀錶板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59" y="1097802"/>
            <a:ext cx="5544466" cy="37576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94325" y="1072908"/>
            <a:ext cx="3028315" cy="87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243443"/>
                </a:solidFill>
                <a:latin typeface="MS PGothic"/>
                <a:cs typeface="MS PGothic"/>
              </a:rPr>
              <a:t>視覺化界面</a:t>
            </a:r>
            <a:r>
              <a:rPr dirty="0" sz="2400" spc="-50">
                <a:solidFill>
                  <a:srgbClr val="243443"/>
                </a:solidFill>
                <a:latin typeface="Arial Black"/>
                <a:cs typeface="Arial Black"/>
              </a:rPr>
              <a:t>: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550">
                <a:solidFill>
                  <a:srgbClr val="243443"/>
                </a:solidFill>
                <a:latin typeface="MS PGothic"/>
                <a:cs typeface="MS PGothic"/>
              </a:rPr>
              <a:t>清晰分類流動資 </a:t>
            </a:r>
            <a:r>
              <a:rPr dirty="0" sz="1550" spc="6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550" spc="105">
                <a:solidFill>
                  <a:srgbClr val="243443"/>
                </a:solidFill>
                <a:latin typeface="Arial Black"/>
                <a:cs typeface="Arial Black"/>
              </a:rPr>
              <a:t>(</a:t>
            </a:r>
            <a:r>
              <a:rPr dirty="0" sz="1550" spc="45">
                <a:solidFill>
                  <a:srgbClr val="243443"/>
                </a:solidFill>
                <a:latin typeface="MS PGothic"/>
                <a:cs typeface="MS PGothic"/>
              </a:rPr>
              <a:t>現金、股票等</a:t>
            </a:r>
            <a:r>
              <a:rPr dirty="0" sz="1550" spc="60">
                <a:solidFill>
                  <a:srgbClr val="243443"/>
                </a:solidFill>
                <a:latin typeface="Arial Black"/>
                <a:cs typeface="Arial Black"/>
              </a:rPr>
              <a:t>)</a:t>
            </a:r>
            <a:endParaRPr sz="15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550" spc="45">
                <a:solidFill>
                  <a:srgbClr val="243443"/>
                </a:solidFill>
                <a:latin typeface="MS PGothic"/>
                <a:cs typeface="MS PGothic"/>
              </a:rPr>
              <a:t>和非流動資</a:t>
            </a:r>
            <a:r>
              <a:rPr dirty="0" sz="1550" spc="6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550" spc="105">
                <a:solidFill>
                  <a:srgbClr val="243443"/>
                </a:solidFill>
                <a:latin typeface="Arial Black"/>
                <a:cs typeface="Arial Black"/>
              </a:rPr>
              <a:t>(</a:t>
            </a:r>
            <a:r>
              <a:rPr dirty="0" sz="1550" spc="60">
                <a:solidFill>
                  <a:srgbClr val="243443"/>
                </a:solidFill>
                <a:latin typeface="MS PGothic"/>
                <a:cs typeface="MS PGothic"/>
              </a:rPr>
              <a:t>房</a:t>
            </a:r>
            <a:r>
              <a:rPr dirty="0" sz="1550" spc="6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550" spc="50">
                <a:solidFill>
                  <a:srgbClr val="243443"/>
                </a:solidFill>
                <a:latin typeface="MS PGothic"/>
                <a:cs typeface="MS PGothic"/>
              </a:rPr>
              <a:t>、車輛等</a:t>
            </a:r>
            <a:r>
              <a:rPr dirty="0" sz="1550" spc="105">
                <a:solidFill>
                  <a:srgbClr val="243443"/>
                </a:solidFill>
                <a:latin typeface="Arial Black"/>
                <a:cs typeface="Arial Black"/>
              </a:rPr>
              <a:t>)</a:t>
            </a:r>
            <a:r>
              <a:rPr dirty="0" sz="1550" spc="-50">
                <a:solidFill>
                  <a:srgbClr val="243443"/>
                </a:solidFill>
                <a:latin typeface="MS PGothic"/>
                <a:cs typeface="MS PGothic"/>
              </a:rPr>
              <a:t>。</a:t>
            </a:r>
            <a:endParaRPr sz="1550">
              <a:latin typeface="MS PGothic"/>
              <a:cs typeface="MS P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4325" y="2770149"/>
            <a:ext cx="2886710" cy="791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65">
                <a:solidFill>
                  <a:srgbClr val="243443"/>
                </a:solidFill>
                <a:latin typeface="MS PGothic"/>
                <a:cs typeface="MS PGothic"/>
              </a:rPr>
              <a:t>自動化計算</a:t>
            </a:r>
            <a:r>
              <a:rPr dirty="0" sz="2200" spc="-50">
                <a:solidFill>
                  <a:srgbClr val="243443"/>
                </a:solidFill>
                <a:latin typeface="Arial Black"/>
                <a:cs typeface="Arial Black"/>
              </a:rPr>
              <a:t>:</a:t>
            </a:r>
            <a:endParaRPr sz="22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solidFill>
                  <a:srgbClr val="243443"/>
                </a:solidFill>
                <a:latin typeface="MS PGothic"/>
                <a:cs typeface="MS PGothic"/>
              </a:rPr>
              <a:t>系統即時計算淨資 </a:t>
            </a:r>
            <a:r>
              <a:rPr dirty="0" sz="140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400" spc="-10">
                <a:solidFill>
                  <a:srgbClr val="243443"/>
                </a:solidFill>
                <a:latin typeface="MS PGothic"/>
                <a:cs typeface="MS PGothic"/>
              </a:rPr>
              <a:t>總額、收入支出與緊急預備金覆蓋率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262601"/>
            <a:ext cx="53359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>
                <a:latin typeface="MS PGothic"/>
                <a:cs typeface="MS PGothic"/>
              </a:rPr>
              <a:t>功能二： </a:t>
            </a:r>
            <a:r>
              <a:rPr dirty="0" spc="-360"/>
              <a:t>FIRE</a:t>
            </a:r>
            <a:r>
              <a:rPr dirty="0" spc="-365"/>
              <a:t> </a:t>
            </a:r>
            <a:r>
              <a:rPr dirty="0" spc="85">
                <a:latin typeface="MS PGothic"/>
                <a:cs typeface="MS PGothic"/>
              </a:rPr>
              <a:t>資</a:t>
            </a:r>
            <a:r>
              <a:rPr dirty="0" spc="85" b="1">
                <a:latin typeface="Microsoft JhengHei"/>
                <a:cs typeface="Microsoft JhengHei"/>
              </a:rPr>
              <a:t>產</a:t>
            </a:r>
            <a:r>
              <a:rPr dirty="0" spc="-10">
                <a:latin typeface="MS PGothic"/>
                <a:cs typeface="MS PGothic"/>
              </a:rPr>
              <a:t>目標成長模擬器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4874" y="3691545"/>
            <a:ext cx="2416175" cy="1259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dirty="0" sz="1600" spc="60" b="1">
                <a:solidFill>
                  <a:srgbClr val="243443"/>
                </a:solidFill>
                <a:latin typeface="Microsoft JhengHei"/>
                <a:cs typeface="Microsoft JhengHei"/>
              </a:rPr>
              <a:t>內</a:t>
            </a:r>
            <a:r>
              <a:rPr dirty="0" sz="1600" spc="-25">
                <a:solidFill>
                  <a:srgbClr val="243443"/>
                </a:solidFill>
                <a:latin typeface="MS PGothic"/>
                <a:cs typeface="MS PGothic"/>
              </a:rPr>
              <a:t>建 </a:t>
            </a:r>
            <a:r>
              <a:rPr dirty="0" sz="1600" spc="-90">
                <a:solidFill>
                  <a:srgbClr val="243443"/>
                </a:solidFill>
                <a:latin typeface="Arial Black"/>
                <a:cs typeface="Arial Black"/>
              </a:rPr>
              <a:t>Standard</a:t>
            </a:r>
            <a:r>
              <a:rPr dirty="0" sz="1600" spc="-40">
                <a:solidFill>
                  <a:srgbClr val="243443"/>
                </a:solidFill>
                <a:latin typeface="Arial Black"/>
                <a:cs typeface="Arial Black"/>
              </a:rPr>
              <a:t> (</a:t>
            </a:r>
            <a:r>
              <a:rPr dirty="0" sz="1600" spc="85">
                <a:solidFill>
                  <a:srgbClr val="243443"/>
                </a:solidFill>
                <a:latin typeface="MS PGothic"/>
                <a:cs typeface="MS PGothic"/>
              </a:rPr>
              <a:t>經典</a:t>
            </a:r>
            <a:r>
              <a:rPr dirty="0" sz="1600" spc="100">
                <a:solidFill>
                  <a:srgbClr val="243443"/>
                </a:solidFill>
                <a:latin typeface="Arial Black"/>
                <a:cs typeface="Arial Black"/>
              </a:rPr>
              <a:t>)</a:t>
            </a:r>
            <a:r>
              <a:rPr dirty="0" sz="1600" spc="-50">
                <a:solidFill>
                  <a:srgbClr val="243443"/>
                </a:solidFill>
                <a:latin typeface="MS PGothic"/>
                <a:cs typeface="MS PGothic"/>
              </a:rPr>
              <a:t>、 </a:t>
            </a:r>
            <a:r>
              <a:rPr dirty="0" sz="1600" spc="-140">
                <a:solidFill>
                  <a:srgbClr val="243443"/>
                </a:solidFill>
                <a:latin typeface="Arial Black"/>
                <a:cs typeface="Arial Black"/>
              </a:rPr>
              <a:t>Fat</a:t>
            </a:r>
            <a:r>
              <a:rPr dirty="0" sz="1600" spc="-50">
                <a:solidFill>
                  <a:srgbClr val="243443"/>
                </a:solidFill>
                <a:latin typeface="Arial Black"/>
                <a:cs typeface="Arial Black"/>
              </a:rPr>
              <a:t> (</a:t>
            </a:r>
            <a:r>
              <a:rPr dirty="0" sz="1600" spc="85">
                <a:solidFill>
                  <a:srgbClr val="243443"/>
                </a:solidFill>
                <a:latin typeface="MS PGothic"/>
                <a:cs typeface="MS PGothic"/>
              </a:rPr>
              <a:t>奢華</a:t>
            </a:r>
            <a:r>
              <a:rPr dirty="0" sz="1600" spc="-50">
                <a:solidFill>
                  <a:srgbClr val="243443"/>
                </a:solidFill>
                <a:latin typeface="Arial Black"/>
                <a:cs typeface="Arial Black"/>
              </a:rPr>
              <a:t>) </a:t>
            </a:r>
            <a:r>
              <a:rPr dirty="0" sz="1600" spc="-35">
                <a:solidFill>
                  <a:srgbClr val="243443"/>
                </a:solidFill>
                <a:latin typeface="MS PGothic"/>
                <a:cs typeface="MS PGothic"/>
              </a:rPr>
              <a:t>等 </a:t>
            </a:r>
            <a:r>
              <a:rPr dirty="0" sz="1600" spc="-125">
                <a:solidFill>
                  <a:srgbClr val="243443"/>
                </a:solidFill>
                <a:latin typeface="Arial Black"/>
                <a:cs typeface="Arial Black"/>
              </a:rPr>
              <a:t>5</a:t>
            </a:r>
            <a:r>
              <a:rPr dirty="0" sz="1600" spc="-204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243443"/>
                </a:solidFill>
                <a:latin typeface="MS PGothic"/>
                <a:cs typeface="MS PGothic"/>
              </a:rPr>
              <a:t>種模式，自</a:t>
            </a:r>
            <a:r>
              <a:rPr dirty="0" sz="1600" spc="-5">
                <a:solidFill>
                  <a:srgbClr val="243443"/>
                </a:solidFill>
                <a:latin typeface="MS PGothic"/>
                <a:cs typeface="MS PGothic"/>
              </a:rPr>
              <a:t>動帶入不同的目標倍數</a:t>
            </a:r>
            <a:endParaRPr sz="160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>
                <a:solidFill>
                  <a:srgbClr val="243443"/>
                </a:solidFill>
                <a:latin typeface="MS PGothic"/>
                <a:cs typeface="MS PGothic"/>
              </a:rPr>
              <a:t>（</a:t>
            </a:r>
            <a:r>
              <a:rPr dirty="0" sz="1600" spc="60">
                <a:solidFill>
                  <a:srgbClr val="243443"/>
                </a:solidFill>
                <a:latin typeface="MS PGothic"/>
                <a:cs typeface="MS PGothic"/>
              </a:rPr>
              <a:t>如年支出的 </a:t>
            </a:r>
            <a:r>
              <a:rPr dirty="0" sz="1600" spc="-114">
                <a:solidFill>
                  <a:srgbClr val="243443"/>
                </a:solidFill>
                <a:latin typeface="Arial Black"/>
                <a:cs typeface="Arial Black"/>
              </a:rPr>
              <a:t>25</a:t>
            </a:r>
            <a:r>
              <a:rPr dirty="0" sz="1600" spc="-185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10">
                <a:solidFill>
                  <a:srgbClr val="243443"/>
                </a:solidFill>
                <a:latin typeface="MS PGothic"/>
                <a:cs typeface="MS PGothic"/>
              </a:rPr>
              <a:t>倍或 </a:t>
            </a:r>
            <a:r>
              <a:rPr dirty="0" sz="1600" spc="-25">
                <a:solidFill>
                  <a:srgbClr val="243443"/>
                </a:solidFill>
                <a:latin typeface="Arial Black"/>
                <a:cs typeface="Arial Black"/>
              </a:rPr>
              <a:t>33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>
                <a:solidFill>
                  <a:srgbClr val="243443"/>
                </a:solidFill>
                <a:latin typeface="MS PGothic"/>
                <a:cs typeface="MS PGothic"/>
              </a:rPr>
              <a:t>倍）</a:t>
            </a:r>
            <a:r>
              <a:rPr dirty="0" sz="1600" spc="-50">
                <a:solidFill>
                  <a:srgbClr val="243443"/>
                </a:solidFill>
                <a:latin typeface="MS PGothic"/>
                <a:cs typeface="MS PGothic"/>
              </a:rPr>
              <a:t>。</a:t>
            </a:r>
            <a:endParaRPr sz="1600">
              <a:latin typeface="MS PGothic"/>
              <a:cs typeface="MS P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485"/>
            <a:ext cx="9143999" cy="255388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319550" y="3691545"/>
            <a:ext cx="2400935" cy="766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dirty="0" sz="1600" spc="-5">
                <a:solidFill>
                  <a:srgbClr val="243443"/>
                </a:solidFill>
                <a:latin typeface="MS PGothic"/>
                <a:cs typeface="MS PGothic"/>
              </a:rPr>
              <a:t>使用者可拖動「預期報酬</a:t>
            </a:r>
            <a:r>
              <a:rPr dirty="0" sz="1600" spc="-50">
                <a:solidFill>
                  <a:srgbClr val="243443"/>
                </a:solidFill>
                <a:latin typeface="MS PGothic"/>
                <a:cs typeface="MS PGothic"/>
              </a:rPr>
              <a:t> </a:t>
            </a:r>
            <a:r>
              <a:rPr dirty="0" sz="1600" spc="35">
                <a:solidFill>
                  <a:srgbClr val="243443"/>
                </a:solidFill>
                <a:latin typeface="MS PGothic"/>
                <a:cs typeface="MS PGothic"/>
              </a:rPr>
              <a:t>率」滑桿 </a:t>
            </a:r>
            <a:r>
              <a:rPr dirty="0" sz="1600" spc="-140">
                <a:solidFill>
                  <a:srgbClr val="243443"/>
                </a:solidFill>
                <a:latin typeface="Arial Black"/>
                <a:cs typeface="Arial Black"/>
              </a:rPr>
              <a:t>(1</a:t>
            </a:r>
            <a:r>
              <a:rPr dirty="0" sz="1600" spc="-100">
                <a:solidFill>
                  <a:srgbClr val="243443"/>
                </a:solidFill>
                <a:latin typeface="Arial Black"/>
                <a:cs typeface="Arial Black"/>
              </a:rPr>
              <a:t>% - </a:t>
            </a:r>
            <a:r>
              <a:rPr dirty="0" sz="1600" spc="-110">
                <a:solidFill>
                  <a:srgbClr val="243443"/>
                </a:solidFill>
                <a:latin typeface="Arial Black"/>
                <a:cs typeface="Arial Black"/>
              </a:rPr>
              <a:t>15%)</a:t>
            </a:r>
            <a:r>
              <a:rPr dirty="0" sz="1600" spc="-55">
                <a:solidFill>
                  <a:srgbClr val="243443"/>
                </a:solidFill>
                <a:latin typeface="MS PGothic"/>
                <a:cs typeface="MS PGothic"/>
              </a:rPr>
              <a:t>，即時</a:t>
            </a:r>
            <a:r>
              <a:rPr dirty="0" sz="1600" spc="-5">
                <a:solidFill>
                  <a:srgbClr val="243443"/>
                </a:solidFill>
                <a:latin typeface="MS PGothic"/>
                <a:cs typeface="MS PGothic"/>
              </a:rPr>
              <a:t>觀察對達成時間的影響。</a:t>
            </a:r>
            <a:endParaRPr sz="1600">
              <a:latin typeface="MS PGothic"/>
              <a:cs typeface="MS P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24225" y="3691545"/>
            <a:ext cx="2327910" cy="1013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dirty="0" sz="1600" spc="-185">
                <a:solidFill>
                  <a:srgbClr val="243443"/>
                </a:solidFill>
                <a:latin typeface="Arial Black"/>
                <a:cs typeface="Arial Black"/>
              </a:rPr>
              <a:t>SVG </a:t>
            </a:r>
            <a:r>
              <a:rPr dirty="0" sz="1600" spc="-10">
                <a:solidFill>
                  <a:srgbClr val="243443"/>
                </a:solidFill>
                <a:latin typeface="MS PGothic"/>
                <a:cs typeface="MS PGothic"/>
              </a:rPr>
              <a:t>動態圖表繪製未來的</a:t>
            </a:r>
            <a:r>
              <a:rPr dirty="0" sz="1600" spc="95">
                <a:solidFill>
                  <a:srgbClr val="243443"/>
                </a:solidFill>
                <a:latin typeface="MS PGothic"/>
                <a:cs typeface="MS PGothic"/>
              </a:rPr>
              <a:t>資</a:t>
            </a:r>
            <a:r>
              <a:rPr dirty="0" sz="1600" spc="6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600" spc="-10">
                <a:solidFill>
                  <a:srgbClr val="243443"/>
                </a:solidFill>
                <a:latin typeface="MS PGothic"/>
                <a:cs typeface="MS PGothic"/>
              </a:rPr>
              <a:t>成長曲線，直觀顯示</a:t>
            </a:r>
            <a:r>
              <a:rPr dirty="0" sz="1600" spc="95">
                <a:solidFill>
                  <a:srgbClr val="243443"/>
                </a:solidFill>
                <a:latin typeface="MS PGothic"/>
                <a:cs typeface="MS PGothic"/>
              </a:rPr>
              <a:t>資</a:t>
            </a:r>
            <a:r>
              <a:rPr dirty="0" sz="1600" spc="6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600" spc="-10">
                <a:solidFill>
                  <a:srgbClr val="243443"/>
                </a:solidFill>
                <a:latin typeface="MS PGothic"/>
                <a:cs typeface="MS PGothic"/>
              </a:rPr>
              <a:t>何時能覆蓋退休目</a:t>
            </a:r>
            <a:r>
              <a:rPr dirty="0" sz="1600" spc="500">
                <a:solidFill>
                  <a:srgbClr val="243443"/>
                </a:solidFill>
                <a:latin typeface="MS PGothic"/>
                <a:cs typeface="MS PGothic"/>
              </a:rPr>
              <a:t> </a:t>
            </a:r>
            <a:r>
              <a:rPr dirty="0" sz="1600" spc="-25">
                <a:solidFill>
                  <a:srgbClr val="243443"/>
                </a:solidFill>
                <a:latin typeface="MS PGothic"/>
                <a:cs typeface="MS PGothic"/>
              </a:rPr>
              <a:t>標。</a:t>
            </a:r>
            <a:endParaRPr sz="1600">
              <a:latin typeface="MS PGothic"/>
              <a:cs typeface="MS P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262601"/>
            <a:ext cx="393255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MS PGothic"/>
                <a:cs typeface="MS PGothic"/>
              </a:rPr>
              <a:t>功能三 </a:t>
            </a:r>
            <a:r>
              <a:rPr dirty="0" spc="-190"/>
              <a:t>: </a:t>
            </a:r>
            <a:r>
              <a:rPr dirty="0" spc="-315"/>
              <a:t>AI</a:t>
            </a:r>
            <a:r>
              <a:rPr dirty="0" spc="-370"/>
              <a:t> </a:t>
            </a:r>
            <a:r>
              <a:rPr dirty="0" spc="-10">
                <a:latin typeface="MS PGothic"/>
                <a:cs typeface="MS PGothic"/>
              </a:rPr>
              <a:t>智慧理財顧問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2799" y="3600095"/>
            <a:ext cx="2336165" cy="7664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5">
                <a:solidFill>
                  <a:srgbClr val="243443"/>
                </a:solidFill>
                <a:latin typeface="MS PGothic"/>
                <a:cs typeface="MS PGothic"/>
              </a:rPr>
              <a:t>串接 </a:t>
            </a:r>
            <a:r>
              <a:rPr dirty="0" sz="1600" spc="-10">
                <a:solidFill>
                  <a:srgbClr val="243443"/>
                </a:solidFill>
                <a:latin typeface="Arial Black"/>
                <a:cs typeface="Arial Black"/>
              </a:rPr>
              <a:t>Google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1200"/>
              </a:lnSpc>
            </a:pPr>
            <a:r>
              <a:rPr dirty="0" sz="1600" spc="-65">
                <a:solidFill>
                  <a:srgbClr val="243443"/>
                </a:solidFill>
                <a:latin typeface="Arial Black"/>
                <a:cs typeface="Arial Black"/>
              </a:rPr>
              <a:t>gemini-</a:t>
            </a:r>
            <a:r>
              <a:rPr dirty="0" sz="1600" spc="-40">
                <a:solidFill>
                  <a:srgbClr val="243443"/>
                </a:solidFill>
                <a:latin typeface="Arial Black"/>
                <a:cs typeface="Arial Black"/>
              </a:rPr>
              <a:t>2.5-</a:t>
            </a:r>
            <a:r>
              <a:rPr dirty="0" sz="1600" spc="-55">
                <a:solidFill>
                  <a:srgbClr val="243443"/>
                </a:solidFill>
                <a:latin typeface="Arial Black"/>
                <a:cs typeface="Arial Black"/>
              </a:rPr>
              <a:t>ﬂash-</a:t>
            </a:r>
            <a:r>
              <a:rPr dirty="0" sz="1600" spc="-65">
                <a:solidFill>
                  <a:srgbClr val="243443"/>
                </a:solidFill>
                <a:latin typeface="Arial Black"/>
                <a:cs typeface="Arial Black"/>
              </a:rPr>
              <a:t>lite</a:t>
            </a:r>
            <a:r>
              <a:rPr dirty="0" sz="1600" spc="-105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-50">
                <a:solidFill>
                  <a:srgbClr val="243443"/>
                </a:solidFill>
                <a:latin typeface="MS PGothic"/>
                <a:cs typeface="MS PGothic"/>
              </a:rPr>
              <a:t>模</a:t>
            </a:r>
            <a:r>
              <a:rPr dirty="0" sz="1600" spc="60">
                <a:solidFill>
                  <a:srgbClr val="243443"/>
                </a:solidFill>
                <a:latin typeface="MS PGothic"/>
                <a:cs typeface="MS PGothic"/>
              </a:rPr>
              <a:t>型，實現生成式 </a:t>
            </a:r>
            <a:r>
              <a:rPr dirty="0" sz="1600" spc="-180">
                <a:solidFill>
                  <a:srgbClr val="243443"/>
                </a:solidFill>
                <a:latin typeface="Arial Black"/>
                <a:cs typeface="Arial Black"/>
              </a:rPr>
              <a:t>AI</a:t>
            </a:r>
            <a:r>
              <a:rPr dirty="0" sz="1600" spc="-170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243443"/>
                </a:solidFill>
                <a:latin typeface="MS PGothic"/>
                <a:cs typeface="MS PGothic"/>
              </a:rPr>
              <a:t>諮詢。</a:t>
            </a:r>
            <a:endParaRPr sz="1600">
              <a:latin typeface="MS PGothic"/>
              <a:cs typeface="MS P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19550" y="3600095"/>
            <a:ext cx="2322195" cy="1013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dirty="0" sz="1600" spc="-5">
                <a:solidFill>
                  <a:srgbClr val="243443"/>
                </a:solidFill>
                <a:latin typeface="MS PGothic"/>
                <a:cs typeface="MS PGothic"/>
              </a:rPr>
              <a:t>系統會將使用者的「收入、</a:t>
            </a:r>
            <a:r>
              <a:rPr dirty="0" sz="1600">
                <a:solidFill>
                  <a:srgbClr val="243443"/>
                </a:solidFill>
                <a:latin typeface="MS PGothic"/>
                <a:cs typeface="MS PGothic"/>
              </a:rPr>
              <a:t>支出、流動資 </a:t>
            </a:r>
            <a:r>
              <a:rPr dirty="0" sz="1600" spc="60" b="1">
                <a:solidFill>
                  <a:srgbClr val="243443"/>
                </a:solidFill>
                <a:latin typeface="Microsoft JhengHei"/>
                <a:cs typeface="Microsoft JhengHei"/>
              </a:rPr>
              <a:t>產</a:t>
            </a:r>
            <a:r>
              <a:rPr dirty="0" sz="1600" spc="-10">
                <a:solidFill>
                  <a:srgbClr val="243443"/>
                </a:solidFill>
                <a:latin typeface="MS PGothic"/>
                <a:cs typeface="MS PGothic"/>
              </a:rPr>
              <a:t>、儲蓄率」</a:t>
            </a:r>
            <a:r>
              <a:rPr dirty="0" sz="1600" spc="40">
                <a:solidFill>
                  <a:srgbClr val="243443"/>
                </a:solidFill>
                <a:latin typeface="MS PGothic"/>
                <a:cs typeface="MS PGothic"/>
              </a:rPr>
              <a:t>打包成 </a:t>
            </a:r>
            <a:r>
              <a:rPr dirty="0" sz="1600" spc="-95">
                <a:solidFill>
                  <a:srgbClr val="243443"/>
                </a:solidFill>
                <a:latin typeface="Arial Black"/>
                <a:cs typeface="Arial Black"/>
              </a:rPr>
              <a:t>Prompt</a:t>
            </a:r>
            <a:r>
              <a:rPr dirty="0" sz="1600" spc="-165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243443"/>
                </a:solidFill>
                <a:latin typeface="MS PGothic"/>
                <a:cs typeface="MS PGothic"/>
              </a:rPr>
              <a:t>傳送給</a:t>
            </a:r>
            <a:r>
              <a:rPr dirty="0" sz="1600" spc="-50">
                <a:solidFill>
                  <a:srgbClr val="243443"/>
                </a:solidFill>
                <a:latin typeface="MS PGothic"/>
                <a:cs typeface="MS PGothic"/>
              </a:rPr>
              <a:t> </a:t>
            </a:r>
            <a:r>
              <a:rPr dirty="0" sz="1600" spc="-120">
                <a:solidFill>
                  <a:srgbClr val="243443"/>
                </a:solidFill>
                <a:latin typeface="Arial Black"/>
                <a:cs typeface="Arial Black"/>
              </a:rPr>
              <a:t>AI</a:t>
            </a:r>
            <a:r>
              <a:rPr dirty="0" sz="1600" spc="-30">
                <a:solidFill>
                  <a:srgbClr val="243443"/>
                </a:solidFill>
                <a:latin typeface="MS PGothic"/>
                <a:cs typeface="MS PGothic"/>
              </a:rPr>
              <a:t>，而非通用聊天。</a:t>
            </a:r>
            <a:endParaRPr sz="1600">
              <a:latin typeface="MS PGothic"/>
              <a:cs typeface="MS P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05075" y="3600095"/>
            <a:ext cx="2491105" cy="766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dirty="0" sz="1600" spc="15">
                <a:solidFill>
                  <a:srgbClr val="243443"/>
                </a:solidFill>
                <a:latin typeface="MS PGothic"/>
                <a:cs typeface="MS PGothic"/>
              </a:rPr>
              <a:t>透過 </a:t>
            </a:r>
            <a:r>
              <a:rPr dirty="0" sz="1600" spc="-110">
                <a:solidFill>
                  <a:srgbClr val="243443"/>
                </a:solidFill>
                <a:latin typeface="Arial Black"/>
                <a:cs typeface="Arial Black"/>
              </a:rPr>
              <a:t>System</a:t>
            </a:r>
            <a:r>
              <a:rPr dirty="0" sz="1600" spc="-170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-95">
                <a:solidFill>
                  <a:srgbClr val="243443"/>
                </a:solidFill>
                <a:latin typeface="Arial Black"/>
                <a:cs typeface="Arial Black"/>
              </a:rPr>
              <a:t>Prompt</a:t>
            </a:r>
            <a:r>
              <a:rPr dirty="0" sz="1600" spc="-175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20">
                <a:solidFill>
                  <a:srgbClr val="243443"/>
                </a:solidFill>
                <a:latin typeface="MS PGothic"/>
                <a:cs typeface="MS PGothic"/>
              </a:rPr>
              <a:t>設定</a:t>
            </a:r>
            <a:r>
              <a:rPr dirty="0" sz="1600" spc="-50">
                <a:solidFill>
                  <a:srgbClr val="243443"/>
                </a:solidFill>
                <a:latin typeface="MS PGothic"/>
                <a:cs typeface="MS PGothic"/>
              </a:rPr>
              <a:t> </a:t>
            </a:r>
            <a:r>
              <a:rPr dirty="0" sz="1600" spc="-180">
                <a:solidFill>
                  <a:srgbClr val="243443"/>
                </a:solidFill>
                <a:latin typeface="Arial Black"/>
                <a:cs typeface="Arial Black"/>
              </a:rPr>
              <a:t>AI</a:t>
            </a:r>
            <a:r>
              <a:rPr dirty="0" sz="1600" spc="-55">
                <a:solidFill>
                  <a:srgbClr val="243443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243443"/>
                </a:solidFill>
                <a:latin typeface="MS PGothic"/>
                <a:cs typeface="MS PGothic"/>
              </a:rPr>
              <a:t>為「專業理財顧問」，提</a:t>
            </a:r>
            <a:r>
              <a:rPr dirty="0" sz="1600" spc="500">
                <a:solidFill>
                  <a:srgbClr val="243443"/>
                </a:solidFill>
                <a:latin typeface="MS PGothic"/>
                <a:cs typeface="MS PGothic"/>
              </a:rPr>
              <a:t> </a:t>
            </a:r>
            <a:r>
              <a:rPr dirty="0" sz="1600" spc="-5">
                <a:solidFill>
                  <a:srgbClr val="243443"/>
                </a:solidFill>
                <a:latin typeface="MS PGothic"/>
                <a:cs typeface="MS PGothic"/>
              </a:rPr>
              <a:t>供客觀、具體的改善建議。</a:t>
            </a:r>
            <a:endParaRPr sz="1600">
              <a:latin typeface="MS PGothic"/>
              <a:cs typeface="MS PGothic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74" y="1257250"/>
            <a:ext cx="8488849" cy="227036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262601"/>
            <a:ext cx="635825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>
                <a:latin typeface="MS PGothic"/>
                <a:cs typeface="MS PGothic"/>
              </a:rPr>
              <a:t>前端技術架構</a:t>
            </a:r>
            <a:r>
              <a:rPr dirty="0" spc="-150"/>
              <a:t>(Frontend</a:t>
            </a:r>
            <a:r>
              <a:rPr dirty="0" spc="-330"/>
              <a:t> </a:t>
            </a:r>
            <a:r>
              <a:rPr dirty="0" spc="-140"/>
              <a:t>Architecture)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62" y="685350"/>
            <a:ext cx="8816274" cy="390168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56499" y="4642963"/>
            <a:ext cx="49663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80">
                <a:solidFill>
                  <a:srgbClr val="243443"/>
                </a:solidFill>
                <a:latin typeface="MS PGothic"/>
                <a:cs typeface="MS PGothic"/>
              </a:rPr>
              <a:t>前端網址 </a:t>
            </a:r>
            <a:r>
              <a:rPr dirty="0" u="heavy" sz="1400" spc="-75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 Black"/>
                <a:cs typeface="Arial Black"/>
                <a:hlinkClick r:id="rId3"/>
              </a:rPr>
              <a:t>hps://github.com/aryhsg/wealth-</a:t>
            </a:r>
            <a:r>
              <a:rPr dirty="0" u="heavy" sz="1400" spc="-70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 Black"/>
                <a:cs typeface="Arial Black"/>
                <a:hlinkClick r:id="rId3"/>
              </a:rPr>
              <a:t>management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>
                <a:latin typeface="MS PGothic"/>
                <a:cs typeface="MS PGothic"/>
              </a:rPr>
              <a:t>後端技術架構和</a:t>
            </a:r>
            <a:r>
              <a:rPr dirty="0" spc="-229"/>
              <a:t>AI(Backend</a:t>
            </a:r>
            <a:r>
              <a:rPr dirty="0" spc="-345"/>
              <a:t> </a:t>
            </a:r>
            <a:r>
              <a:rPr dirty="0" spc="-625"/>
              <a:t>&amp;</a:t>
            </a:r>
            <a:r>
              <a:rPr dirty="0" spc="-345"/>
              <a:t> </a:t>
            </a:r>
            <a:r>
              <a:rPr dirty="0" spc="-114"/>
              <a:t>AI)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24" y="750200"/>
            <a:ext cx="8841548" cy="382972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56499" y="4642963"/>
            <a:ext cx="5772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5">
                <a:solidFill>
                  <a:srgbClr val="243443"/>
                </a:solidFill>
                <a:latin typeface="MS PGothic"/>
                <a:cs typeface="MS PGothic"/>
              </a:rPr>
              <a:t>後端網址 </a:t>
            </a:r>
            <a:r>
              <a:rPr dirty="0" u="heavy" sz="1400" spc="-75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 Black"/>
                <a:cs typeface="Arial Black"/>
                <a:hlinkClick r:id="rId3"/>
              </a:rPr>
              <a:t>hps://github.com/aryhsg/wealth-</a:t>
            </a:r>
            <a:r>
              <a:rPr dirty="0" u="heavy" sz="1400" spc="-100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 Black"/>
                <a:cs typeface="Arial Black"/>
                <a:hlinkClick r:id="rId3"/>
              </a:rPr>
              <a:t>management-</a:t>
            </a:r>
            <a:r>
              <a:rPr dirty="0" u="heavy" sz="1400" spc="-45">
                <a:solidFill>
                  <a:srgbClr val="2F5C7B"/>
                </a:solidFill>
                <a:uFill>
                  <a:solidFill>
                    <a:srgbClr val="2F5C7B"/>
                  </a:solidFill>
                </a:uFill>
                <a:latin typeface="Arial Black"/>
                <a:cs typeface="Arial Black"/>
                <a:hlinkClick r:id="rId3"/>
              </a:rPr>
              <a:t>backend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6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5">
                <a:latin typeface="MS PGothic"/>
                <a:cs typeface="MS PGothic"/>
              </a:rPr>
              <a:t>資料與安全性 </a:t>
            </a:r>
            <a:r>
              <a:rPr dirty="0" spc="-125"/>
              <a:t>(Data</a:t>
            </a:r>
            <a:r>
              <a:rPr dirty="0" spc="-365"/>
              <a:t> </a:t>
            </a:r>
            <a:r>
              <a:rPr dirty="0" spc="-625"/>
              <a:t>&amp;</a:t>
            </a:r>
            <a:r>
              <a:rPr dirty="0" spc="-365"/>
              <a:t> </a:t>
            </a:r>
            <a:r>
              <a:rPr dirty="0" spc="-110"/>
              <a:t>Security)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4637"/>
            <a:ext cx="8839199" cy="279422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7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262601"/>
            <a:ext cx="372617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5">
                <a:latin typeface="MS PGothic"/>
                <a:cs typeface="MS PGothic"/>
              </a:rPr>
              <a:t>部署與運維 </a:t>
            </a:r>
            <a:r>
              <a:rPr dirty="0" spc="-170"/>
              <a:t>(DevOps</a:t>
            </a:r>
            <a:r>
              <a:rPr dirty="0" spc="-365"/>
              <a:t> </a:t>
            </a:r>
            <a:r>
              <a:rPr dirty="0" spc="-675"/>
              <a:t>&amp;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7574" y="678551"/>
            <a:ext cx="2590800" cy="4857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dirty="0" sz="2800" spc="-140">
                <a:solidFill>
                  <a:srgbClr val="243443"/>
                </a:solidFill>
                <a:latin typeface="Arial Black"/>
                <a:cs typeface="Arial Black"/>
              </a:rPr>
              <a:t>Infrastructure)</a:t>
            </a:r>
            <a:endParaRPr sz="2800">
              <a:latin typeface="Arial Black"/>
              <a:cs typeface="Arial Blac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0" y="810525"/>
            <a:ext cx="8870401" cy="365973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8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74" y="262601"/>
            <a:ext cx="327025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>
                <a:latin typeface="MS PGothic"/>
                <a:cs typeface="MS PGothic"/>
              </a:rPr>
              <a:t>技術價</a:t>
            </a:r>
            <a:r>
              <a:rPr dirty="0" spc="85" b="1">
                <a:latin typeface="Microsoft JhengHei"/>
                <a:cs typeface="Microsoft JhengHei"/>
              </a:rPr>
              <a:t>值</a:t>
            </a:r>
            <a:r>
              <a:rPr dirty="0" spc="-10">
                <a:latin typeface="MS PGothic"/>
                <a:cs typeface="MS PGothic"/>
              </a:rPr>
              <a:t>與成果總結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22399"/>
            <a:ext cx="8839198" cy="335670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60701" y="4774733"/>
            <a:ext cx="1422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5" b="1">
                <a:solidFill>
                  <a:srgbClr val="131313"/>
                </a:solidFill>
                <a:latin typeface="Arial"/>
                <a:cs typeface="Arial"/>
              </a:rPr>
              <a:t>9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F5C7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2026/01/27-WealthWise</dc:title>
  <dcterms:created xsi:type="dcterms:W3CDTF">2026-03-16T16:02:44Z</dcterms:created>
  <dcterms:modified xsi:type="dcterms:W3CDTF">2026-03-16T16:02:44Z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